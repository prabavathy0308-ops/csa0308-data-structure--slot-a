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b3aa8282-7088-5b2c-111e-140dcd706415}">
          <p14:sldIdLst>
            <p14:sldId id="256"/>
          </p14:sldIdLst>
        </p14:section>
        <p14:section name="Q1 – Student Marks" id="{400d0139-4865-6c26-22e4-6133cec45e34}">
          <p14:sldIdLst>
            <p14:sldId id="257"/>
            <p14:sldId id="258"/>
          </p14:sldIdLst>
        </p14:section>
        <p14:section name="Q2 – Navigation" id="{0c3539d9-1aaa-5724-e8ed-d2794ba5a86f}">
          <p14:sldIdLst>
            <p14:sldId id="259"/>
            <p14:sldId id="260"/>
          </p14:sldIdLst>
        </p14:section>
        <p14:section name="Q3 – Browser History" id="{e44a09a7-b9db-6831-e98c-441929132443}">
          <p14:sldIdLst>
            <p14:sldId id="261"/>
            <p14:sldId id="262"/>
          </p14:sldIdLst>
        </p14:section>
        <p14:section name="Q4 – Digital Library" id="{41724435-33fb-85d9-9bd8-c1fa425819aa}">
          <p14:sldIdLst>
            <p14:sldId id="263"/>
            <p14:sldId id="264"/>
          </p14:sldIdLst>
        </p14:section>
        <p14:section name="Closing" id="{56929353-f40e-d0d7-7c22-a7f4b091f01f}">
          <p14:sldIdLst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3C49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0B3C49"/>
                </a:solidFill>
                <a:latin typeface="+mn-lt"/>
              </a:rPr>
              <a:t>Comparisons to find one of 50,000 ISBNs (log scale)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Comparisons</c:v>
                </c:pt>
              </c:strCache>
            </c:strRef>
          </c:tx>
          <c:spPr>
            <a:solidFill>
              <a:srgbClr val="0B3C4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B3C49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B7A7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2A541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Linear search</c:v>
                  </c:pt>
                  <c:pt idx="1">
                    <c:v>Binary search</c:v>
                  </c:pt>
                  <c:pt idx="2">
                    <c:v>Hash table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50000</c:v>
                </c:pt>
                <c:pt idx="1">
                  <c:v>16</c:v>
                </c:pt>
                <c:pt idx="2">
                  <c:v>1.4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3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7262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logBase val="10"/>
          <c:orientation val="minMax"/>
          <c:max val="100000"/>
          <c:min val="1"/>
        </c:scaling>
        <c:delete val="0"/>
        <c:axPos val="l"/>
        <c:majorGridlines>
          <c:spPr>
            <a:ln w="9525" cap="flat">
              <a:solidFill>
                <a:srgbClr val="D5E3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B7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yourself: name, register number, course CSA03 Data Structures. Preview the four problems and the structure chosen for each: Array, Graph, Stack, Hash 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Primitive types hold a single value, so 1000 variables would be unmanageable. A non-primitive linear structure, the array, stores all marks under one name in contiguous memory. Index i maps directly to an address.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Compare array against a linked list. Arrays give O(1) access and update by index and use about 4 KB for 1000 four-byte integers. A linked list adds a pointer per node and needs O(n) traversal to reach a given student.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road network is naturally a weighted graph: cities are vertices, roads are edges, distances are weights. It is non-linear and many-to-many. An adjacency list stores it in O(V+E) space, better than an adjacency matrix at O(V squared) for sparse road maps.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Dijkstra from Mumbai: Pune 150, Hyderabad 710, Bengaluru 990 via Pune, Chennai 1340. With a binary min-heap the time is O((V+E) log V). Mention that Dijkstra needs non-negative weights.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Browsing history behaves as Last-In-First-Out. Each visit pushes a page; Back pops the top. All four stack operations run in constant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stacks model the whole navigation flow: a Back stack and a Forward stack around the current page. Every move is a push or pop at the top, so performance stays constant regardless of history length.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ISBN is a unique key, and the only query is exact match. A hash function maps the ISBN to a bucket, so the record is found without scanning. With about 66,000 buckets for 50,000 books the load factor is about 0.75, keeping chains very short.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n = 50,000: linear search needs up to 50,000 comparisons; binary search about log2(50,000) = 16 but needs sorted data and O(n) inserts; a hash table averages about 1.4 probes at load factor 0.75. Worst case for hashing is O(n) only if all keys collide, which a good hash function avoids.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recapping the four choices: array, graph, stack, hash table. Thank the audience and invite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731520" y="1600200"/>
            <a:ext cx="603504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_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731520" y="1828800"/>
            <a:ext cx="603504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6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CSA03 · Data Structures   |   Prabavathy S · 1972260100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05156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accent2"/>
                </a:solidFill>
              </a:rPr>
              <a:t>SIMATS ENGINEERING  ·  TECHNICAL PRESENTATION</a:t>
            </a:r>
            <a:endParaRPr lang="en-US" sz="14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731520" y="1600200"/>
            <a:ext cx="6035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Choosing the Right Data Structure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657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6"/>
                </a:solidFill>
              </a:rPr>
              <a:t>PRESENTED BY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977640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Prabavathy S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466344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Register Number: 1972260100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5166360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Data Structures (CSA03)  ·  Assessment Tool 2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Saveetha Institute of Medical and Technical Sciences</a:t>
            </a:r>
            <a:endParaRPr lang="en-US" sz="1400" dirty="0"/>
          </a:p>
        </p:txBody>
      </p:sp>
      <p:sp>
        <p:nvSpPr>
          <p:cNvPr id="8" name="Agenda card"/>
          <p:cNvSpPr/>
          <p:nvPr/>
        </p:nvSpPr>
        <p:spPr>
          <a:xfrm>
            <a:off x="7223760" y="1325880"/>
            <a:ext cx="2103120" cy="2194560"/>
          </a:xfrm>
          <a:prstGeom prst="roundRect">
            <a:avLst>
              <a:gd name="adj" fmla="val 6522"/>
            </a:avLst>
          </a:prstGeom>
          <a:solidFill>
            <a:schemeClr val="accent3"/>
          </a:solidFill>
          <a:ln/>
        </p:spPr>
      </p:sp>
      <p:sp>
        <p:nvSpPr>
          <p:cNvPr id="9" name="Icon circle"/>
          <p:cNvSpPr/>
          <p:nvPr/>
        </p:nvSpPr>
        <p:spPr>
          <a:xfrm>
            <a:off x="7452360" y="155448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0" name="Image 0" descr="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57186" y="1759306"/>
            <a:ext cx="321869" cy="321869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7452360" y="2423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Q1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7452360" y="267919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Array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7452360" y="30632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Student marks</a:t>
            </a:r>
            <a:endParaRPr lang="en-US" sz="1400" dirty="0"/>
          </a:p>
        </p:txBody>
      </p:sp>
      <p:sp>
        <p:nvSpPr>
          <p:cNvPr id="14" name="Agenda card"/>
          <p:cNvSpPr/>
          <p:nvPr/>
        </p:nvSpPr>
        <p:spPr>
          <a:xfrm>
            <a:off x="9509760" y="1325880"/>
            <a:ext cx="2103120" cy="2194560"/>
          </a:xfrm>
          <a:prstGeom prst="roundRect">
            <a:avLst>
              <a:gd name="adj" fmla="val 6522"/>
            </a:avLst>
          </a:prstGeom>
          <a:solidFill>
            <a:schemeClr val="accent3"/>
          </a:solidFill>
          <a:ln/>
        </p:spPr>
      </p:sp>
      <p:sp>
        <p:nvSpPr>
          <p:cNvPr id="15" name="Icon circle"/>
          <p:cNvSpPr/>
          <p:nvPr/>
        </p:nvSpPr>
        <p:spPr>
          <a:xfrm>
            <a:off x="9738360" y="155448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6" name="Image 1" descr="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3186" y="1759306"/>
            <a:ext cx="321869" cy="321869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9738360" y="2423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Q2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9738360" y="267919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Graph</a:t>
            </a:r>
            <a:endParaRPr lang="en-US" sz="2000" dirty="0"/>
          </a:p>
        </p:txBody>
      </p:sp>
      <p:sp>
        <p:nvSpPr>
          <p:cNvPr id="19" name="Text 15"/>
          <p:cNvSpPr txBox="1"/>
          <p:nvPr/>
        </p:nvSpPr>
        <p:spPr>
          <a:xfrm>
            <a:off x="9738360" y="30632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City navigation</a:t>
            </a:r>
            <a:endParaRPr lang="en-US" sz="1400" dirty="0"/>
          </a:p>
        </p:txBody>
      </p:sp>
      <p:sp>
        <p:nvSpPr>
          <p:cNvPr id="20" name="Agenda card"/>
          <p:cNvSpPr/>
          <p:nvPr/>
        </p:nvSpPr>
        <p:spPr>
          <a:xfrm>
            <a:off x="7223760" y="3703320"/>
            <a:ext cx="2103120" cy="2194560"/>
          </a:xfrm>
          <a:prstGeom prst="roundRect">
            <a:avLst>
              <a:gd name="adj" fmla="val 6522"/>
            </a:avLst>
          </a:prstGeom>
          <a:solidFill>
            <a:schemeClr val="accent3"/>
          </a:solidFill>
          <a:ln/>
        </p:spPr>
      </p:sp>
      <p:sp>
        <p:nvSpPr>
          <p:cNvPr id="21" name="Icon circle"/>
          <p:cNvSpPr/>
          <p:nvPr/>
        </p:nvSpPr>
        <p:spPr>
          <a:xfrm>
            <a:off x="7452360" y="393192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2" name="Image 2" descr="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7186" y="4136746"/>
            <a:ext cx="321869" cy="321869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7452360" y="48006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Q3</a:t>
            </a:r>
            <a:endParaRPr lang="en-US" sz="1200" dirty="0"/>
          </a:p>
        </p:txBody>
      </p:sp>
      <p:sp>
        <p:nvSpPr>
          <p:cNvPr id="24" name="Text 19"/>
          <p:cNvSpPr txBox="1"/>
          <p:nvPr/>
        </p:nvSpPr>
        <p:spPr>
          <a:xfrm>
            <a:off x="7452360" y="505663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Stack</a:t>
            </a:r>
            <a:endParaRPr lang="en-US" sz="2000" dirty="0"/>
          </a:p>
        </p:txBody>
      </p:sp>
      <p:sp>
        <p:nvSpPr>
          <p:cNvPr id="25" name="Text 20"/>
          <p:cNvSpPr txBox="1"/>
          <p:nvPr/>
        </p:nvSpPr>
        <p:spPr>
          <a:xfrm>
            <a:off x="7452360" y="54406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Browser history</a:t>
            </a:r>
            <a:endParaRPr lang="en-US" sz="1400" dirty="0"/>
          </a:p>
        </p:txBody>
      </p:sp>
      <p:sp>
        <p:nvSpPr>
          <p:cNvPr id="26" name="Agenda card"/>
          <p:cNvSpPr/>
          <p:nvPr/>
        </p:nvSpPr>
        <p:spPr>
          <a:xfrm>
            <a:off x="9509760" y="3703320"/>
            <a:ext cx="2103120" cy="2194560"/>
          </a:xfrm>
          <a:prstGeom prst="roundRect">
            <a:avLst>
              <a:gd name="adj" fmla="val 6522"/>
            </a:avLst>
          </a:prstGeom>
          <a:solidFill>
            <a:schemeClr val="accent3"/>
          </a:solidFill>
          <a:ln/>
        </p:spPr>
      </p:sp>
      <p:sp>
        <p:nvSpPr>
          <p:cNvPr id="27" name="Icon circle"/>
          <p:cNvSpPr/>
          <p:nvPr/>
        </p:nvSpPr>
        <p:spPr>
          <a:xfrm>
            <a:off x="9738360" y="393192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8" name="Image 3" descr="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43186" y="4136746"/>
            <a:ext cx="321869" cy="321869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9738360" y="48006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Q4</a:t>
            </a:r>
            <a:endParaRPr lang="en-US" sz="1200" dirty="0"/>
          </a:p>
        </p:txBody>
      </p:sp>
      <p:sp>
        <p:nvSpPr>
          <p:cNvPr id="30" name="Text 24"/>
          <p:cNvSpPr txBox="1"/>
          <p:nvPr/>
        </p:nvSpPr>
        <p:spPr>
          <a:xfrm>
            <a:off x="9738360" y="505663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Hash Table</a:t>
            </a:r>
            <a:endParaRPr lang="en-US" sz="2000" dirty="0"/>
          </a:p>
        </p:txBody>
      </p:sp>
      <p:sp>
        <p:nvSpPr>
          <p:cNvPr id="31" name="Text 25"/>
          <p:cNvSpPr txBox="1"/>
          <p:nvPr/>
        </p:nvSpPr>
        <p:spPr>
          <a:xfrm>
            <a:off x="9738360" y="54406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ISBN search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uestion tag"/>
          <p:cNvSpPr/>
          <p:nvPr/>
        </p:nvSpPr>
        <p:spPr>
          <a:xfrm>
            <a:off x="548640" y="274320"/>
            <a:ext cx="1554480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QUESTION 1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Storing Marks of 1000 Students</a:t>
            </a:r>
            <a:endParaRPr lang="en-US" sz="3200" dirty="0"/>
          </a:p>
        </p:txBody>
      </p:sp>
      <p:sp>
        <p:nvSpPr>
          <p:cNvPr id="4" name="Problem card"/>
          <p:cNvSpPr/>
          <p:nvPr/>
        </p:nvSpPr>
        <p:spPr>
          <a:xfrm>
            <a:off x="548640" y="1554480"/>
            <a:ext cx="5669280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664208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The Problem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011680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Store 1000 marks with fast lookup by roll number, quick updates and simple reports (total, average, topper).</a:t>
            </a:r>
            <a:endParaRPr lang="en-US" sz="1500" dirty="0"/>
          </a:p>
        </p:txBody>
      </p:sp>
      <p:sp>
        <p:nvSpPr>
          <p:cNvPr id="7" name="Primitive card"/>
          <p:cNvSpPr/>
          <p:nvPr/>
        </p:nvSpPr>
        <p:spPr>
          <a:xfrm>
            <a:off x="548640" y="2971800"/>
            <a:ext cx="274320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30815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Primitive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474720"/>
            <a:ext cx="2377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int, float, char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One value per variable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1000 separate variables is unmanageable</a:t>
            </a:r>
            <a:endParaRPr lang="en-US" sz="1400" dirty="0"/>
          </a:p>
        </p:txBody>
      </p:sp>
      <p:sp>
        <p:nvSpPr>
          <p:cNvPr id="10" name="Non-primitive card"/>
          <p:cNvSpPr/>
          <p:nvPr/>
        </p:nvSpPr>
        <p:spPr>
          <a:xfrm>
            <a:off x="3474720" y="2971800"/>
            <a:ext cx="274320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703320" y="30815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Non-primitive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703320" y="3474720"/>
            <a:ext cx="2377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array, list, stack, graph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Holds a collection of values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One name, 1000 values</a:t>
            </a:r>
            <a:endParaRPr lang="en-US" sz="1400" dirty="0"/>
          </a:p>
        </p:txBody>
      </p:sp>
      <p:sp>
        <p:nvSpPr>
          <p:cNvPr id="13" name="Choice banner"/>
          <p:cNvSpPr/>
          <p:nvPr/>
        </p:nvSpPr>
        <p:spPr>
          <a:xfrm>
            <a:off x="548640" y="5303520"/>
            <a:ext cx="5669280" cy="868680"/>
          </a:xfrm>
          <a:prstGeom prst="roundRect">
            <a:avLst>
              <a:gd name="adj" fmla="val 12632"/>
            </a:avLst>
          </a:prstGeom>
          <a:solidFill>
            <a:schemeClr val="tx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77240" y="5303520"/>
            <a:ext cx="5303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Choice: </a:t>
            </a:r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1-D array  marks[1000]  (non-primitive, linear)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6675120" y="15544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marks[ ] stored in contiguous memory</a:t>
            </a:r>
            <a:endParaRPr lang="en-US" sz="1600" dirty="0"/>
          </a:p>
        </p:txBody>
      </p:sp>
      <p:sp>
        <p:nvSpPr>
          <p:cNvPr id="16" name="Array cell"/>
          <p:cNvSpPr/>
          <p:nvPr/>
        </p:nvSpPr>
        <p:spPr>
          <a:xfrm>
            <a:off x="6675120" y="2011680"/>
            <a:ext cx="731520" cy="731520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78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6675120" y="27889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[0]</a:t>
            </a:r>
            <a:endParaRPr lang="en-US" sz="1200" dirty="0"/>
          </a:p>
        </p:txBody>
      </p:sp>
      <p:sp>
        <p:nvSpPr>
          <p:cNvPr id="18" name="Array cell"/>
          <p:cNvSpPr/>
          <p:nvPr/>
        </p:nvSpPr>
        <p:spPr>
          <a:xfrm>
            <a:off x="7516368" y="2011680"/>
            <a:ext cx="731520" cy="731520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85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7516368" y="27889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[1]</a:t>
            </a:r>
            <a:endParaRPr lang="en-US" sz="1200" dirty="0"/>
          </a:p>
        </p:txBody>
      </p:sp>
      <p:sp>
        <p:nvSpPr>
          <p:cNvPr id="20" name="Array cell"/>
          <p:cNvSpPr/>
          <p:nvPr/>
        </p:nvSpPr>
        <p:spPr>
          <a:xfrm>
            <a:off x="8357616" y="2011680"/>
            <a:ext cx="731520" cy="731520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92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8357616" y="27889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[2]</a:t>
            </a:r>
            <a:endParaRPr lang="en-US" sz="1200" dirty="0"/>
          </a:p>
        </p:txBody>
      </p:sp>
      <p:sp>
        <p:nvSpPr>
          <p:cNvPr id="22" name="Array cell"/>
          <p:cNvSpPr/>
          <p:nvPr/>
        </p:nvSpPr>
        <p:spPr>
          <a:xfrm>
            <a:off x="9198864" y="2011680"/>
            <a:ext cx="731520" cy="731520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67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9198864" y="27889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[3]</a:t>
            </a:r>
            <a:endParaRPr lang="en-US" sz="1200" dirty="0"/>
          </a:p>
        </p:txBody>
      </p:sp>
      <p:sp>
        <p:nvSpPr>
          <p:cNvPr id="24" name="Array cell"/>
          <p:cNvSpPr/>
          <p:nvPr/>
        </p:nvSpPr>
        <p:spPr>
          <a:xfrm>
            <a:off x="10040112" y="2011680"/>
            <a:ext cx="731520" cy="73152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…</a:t>
            </a:r>
            <a:endParaRPr lang="en-US" sz="2000" dirty="0"/>
          </a:p>
        </p:txBody>
      </p:sp>
      <p:sp>
        <p:nvSpPr>
          <p:cNvPr id="25" name="Array cell"/>
          <p:cNvSpPr/>
          <p:nvPr/>
        </p:nvSpPr>
        <p:spPr>
          <a:xfrm>
            <a:off x="10881360" y="2011680"/>
            <a:ext cx="731520" cy="731520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88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10881360" y="27889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[999]</a:t>
            </a:r>
            <a:endParaRPr lang="en-US" sz="1200" dirty="0"/>
          </a:p>
        </p:txBody>
      </p:sp>
      <p:sp>
        <p:nvSpPr>
          <p:cNvPr id="27" name="Why array card"/>
          <p:cNvSpPr/>
          <p:nvPr/>
        </p:nvSpPr>
        <p:spPr>
          <a:xfrm>
            <a:off x="6675120" y="3429000"/>
            <a:ext cx="4937760" cy="27432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903720" y="356616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Why an array fits</a:t>
            </a:r>
            <a:endParaRPr lang="en-US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6903720" y="3977640"/>
            <a:ext cx="44805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Address = base + i × size, so any mark is reached directly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Cache-friendly, sequential memory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Size is fixed and known: exactly 1000 students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No pointer overhead per element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uestion tag"/>
          <p:cNvSpPr/>
          <p:nvPr/>
        </p:nvSpPr>
        <p:spPr>
          <a:xfrm>
            <a:off x="548640" y="274320"/>
            <a:ext cx="1554480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QUESTION 1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Efficiency: Array vs Linked List</a:t>
            </a:r>
            <a:endParaRPr lang="en-US" sz="3200" dirty="0"/>
          </a:p>
        </p:txBody>
      </p:sp>
      <p:graphicFrame>
        <p:nvGraphicFramePr>
          <p:cNvPr id="4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731520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1920240"/>
                <a:gridCol w="2468880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Operation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Array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Linked List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Access marks of roll no. i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O(1)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O(n)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Update a student's marks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O(1)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O(n) to find node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Insert at end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O(1)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O(n), O(1) with tail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Traverse all students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O(n)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O(n)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Memory for 1000 ints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≈ 4 KB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≈ 12 KB+ (pointers)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5" name="Reports card"/>
          <p:cNvSpPr/>
          <p:nvPr/>
        </p:nvSpPr>
        <p:spPr>
          <a:xfrm>
            <a:off x="548640" y="5074920"/>
            <a:ext cx="7315200" cy="1097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77240" y="507492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Reports: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total and average need one O(n) pass; a ranked list needs sorting, O(n log n).</a:t>
            </a:r>
            <a:endParaRPr lang="en-US" sz="1500" dirty="0"/>
          </a:p>
        </p:txBody>
      </p:sp>
      <p:sp>
        <p:nvSpPr>
          <p:cNvPr id="7" name="Stat card"/>
          <p:cNvSpPr/>
          <p:nvPr/>
        </p:nvSpPr>
        <p:spPr>
          <a:xfrm>
            <a:off x="8229600" y="1554480"/>
            <a:ext cx="3383280" cy="13716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8458200" y="169164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O(1)</a:t>
            </a:r>
            <a:endParaRPr lang="en-US" sz="4000" dirty="0"/>
          </a:p>
        </p:txBody>
      </p:sp>
      <p:sp>
        <p:nvSpPr>
          <p:cNvPr id="9" name="Text 6"/>
          <p:cNvSpPr txBox="1"/>
          <p:nvPr/>
        </p:nvSpPr>
        <p:spPr>
          <a:xfrm>
            <a:off x="8458200" y="23774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Direct access by roll number</a:t>
            </a:r>
            <a:endParaRPr lang="en-US" sz="1400" dirty="0"/>
          </a:p>
        </p:txBody>
      </p:sp>
      <p:sp>
        <p:nvSpPr>
          <p:cNvPr id="10" name="Stat card"/>
          <p:cNvSpPr/>
          <p:nvPr/>
        </p:nvSpPr>
        <p:spPr>
          <a:xfrm>
            <a:off x="8229600" y="3108960"/>
            <a:ext cx="3383280" cy="13716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8458200" y="324612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4 KB</a:t>
            </a:r>
            <a:endParaRPr lang="en-US" sz="4000" dirty="0"/>
          </a:p>
        </p:txBody>
      </p:sp>
      <p:sp>
        <p:nvSpPr>
          <p:cNvPr id="12" name="Text 9"/>
          <p:cNvSpPr txBox="1"/>
          <p:nvPr/>
        </p:nvSpPr>
        <p:spPr>
          <a:xfrm>
            <a:off x="8458200" y="39319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Total memory, no pointer overhead</a:t>
            </a:r>
            <a:endParaRPr lang="en-US" sz="1400" dirty="0"/>
          </a:p>
        </p:txBody>
      </p:sp>
      <p:sp>
        <p:nvSpPr>
          <p:cNvPr id="13" name="Stat card"/>
          <p:cNvSpPr/>
          <p:nvPr/>
        </p:nvSpPr>
        <p:spPr>
          <a:xfrm>
            <a:off x="8229600" y="4663440"/>
            <a:ext cx="3383280" cy="13716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8458200" y="480060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O(n)</a:t>
            </a:r>
            <a:endParaRPr lang="en-US" sz="4000" dirty="0"/>
          </a:p>
        </p:txBody>
      </p:sp>
      <p:sp>
        <p:nvSpPr>
          <p:cNvPr id="15" name="Text 12"/>
          <p:cNvSpPr txBox="1"/>
          <p:nvPr/>
        </p:nvSpPr>
        <p:spPr>
          <a:xfrm>
            <a:off x="8458200" y="54864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One pass for total or average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uestion tag"/>
          <p:cNvSpPr/>
          <p:nvPr/>
        </p:nvSpPr>
        <p:spPr>
          <a:xfrm>
            <a:off x="548640" y="274320"/>
            <a:ext cx="1554480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QUESTION 2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Graph for City Navigation</a:t>
            </a:r>
            <a:endParaRPr lang="en-US" sz="3200" dirty="0"/>
          </a:p>
        </p:txBody>
      </p:sp>
      <p:sp>
        <p:nvSpPr>
          <p:cNvPr id="4" name="Edge"/>
          <p:cNvSpPr/>
          <p:nvPr/>
        </p:nvSpPr>
        <p:spPr>
          <a:xfrm>
            <a:off x="1371600" y="2331720"/>
            <a:ext cx="2560320" cy="77724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</a:ln>
        </p:spPr>
      </p:sp>
      <p:sp>
        <p:nvSpPr>
          <p:cNvPr id="5" name="Edge"/>
          <p:cNvSpPr/>
          <p:nvPr/>
        </p:nvSpPr>
        <p:spPr>
          <a:xfrm flipV="1">
            <a:off x="1371600" y="3108960"/>
            <a:ext cx="2560320" cy="137160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</a:ln>
        </p:spPr>
      </p:sp>
      <p:sp>
        <p:nvSpPr>
          <p:cNvPr id="6" name="Edge"/>
          <p:cNvSpPr/>
          <p:nvPr/>
        </p:nvSpPr>
        <p:spPr>
          <a:xfrm>
            <a:off x="3931920" y="3108960"/>
            <a:ext cx="274320" cy="237744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</a:ln>
        </p:spPr>
      </p:sp>
      <p:sp>
        <p:nvSpPr>
          <p:cNvPr id="7" name="Edge"/>
          <p:cNvSpPr/>
          <p:nvPr/>
        </p:nvSpPr>
        <p:spPr>
          <a:xfrm>
            <a:off x="3931920" y="3108960"/>
            <a:ext cx="2468880" cy="118872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</a:ln>
        </p:spPr>
      </p:sp>
      <p:sp>
        <p:nvSpPr>
          <p:cNvPr id="8" name="Edge"/>
          <p:cNvSpPr/>
          <p:nvPr/>
        </p:nvSpPr>
        <p:spPr>
          <a:xfrm flipV="1">
            <a:off x="4206240" y="4297680"/>
            <a:ext cx="2194560" cy="118872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</a:ln>
        </p:spPr>
      </p:sp>
      <p:sp>
        <p:nvSpPr>
          <p:cNvPr id="9" name="Edge"/>
          <p:cNvSpPr/>
          <p:nvPr/>
        </p:nvSpPr>
        <p:spPr>
          <a:xfrm>
            <a:off x="1371600" y="2331720"/>
            <a:ext cx="0" cy="2148840"/>
          </a:xfrm>
          <a:prstGeom prst="line">
            <a:avLst/>
          </a:prstGeom>
          <a:noFill/>
          <a:ln w="63500">
            <a:solidFill>
              <a:schemeClr val="accent2"/>
            </a:solidFill>
            <a:prstDash val="solid"/>
          </a:ln>
        </p:spPr>
      </p:sp>
      <p:sp>
        <p:nvSpPr>
          <p:cNvPr id="10" name="Edge"/>
          <p:cNvSpPr/>
          <p:nvPr/>
        </p:nvSpPr>
        <p:spPr>
          <a:xfrm>
            <a:off x="1371600" y="4480560"/>
            <a:ext cx="2834640" cy="1005840"/>
          </a:xfrm>
          <a:prstGeom prst="line">
            <a:avLst/>
          </a:prstGeom>
          <a:noFill/>
          <a:ln w="63500">
            <a:solidFill>
              <a:schemeClr val="accent2"/>
            </a:solidFill>
            <a:prstDash val="solid"/>
          </a:ln>
        </p:spPr>
      </p:sp>
      <p:sp>
        <p:nvSpPr>
          <p:cNvPr id="11" name="Edge weight"/>
          <p:cNvSpPr/>
          <p:nvPr/>
        </p:nvSpPr>
        <p:spPr>
          <a:xfrm>
            <a:off x="1051560" y="3259836"/>
            <a:ext cx="640080" cy="292608"/>
          </a:xfrm>
          <a:prstGeom prst="roundRect">
            <a:avLst>
              <a:gd name="adj" fmla="val 25000"/>
            </a:avLst>
          </a:prstGeom>
          <a:solidFill>
            <a:schemeClr val="accent2"/>
          </a:solidFill>
          <a:ln w="9525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150</a:t>
            </a:r>
            <a:endParaRPr lang="en-US" sz="1200" dirty="0"/>
          </a:p>
        </p:txBody>
      </p:sp>
      <p:sp>
        <p:nvSpPr>
          <p:cNvPr id="12" name="Edge weight"/>
          <p:cNvSpPr/>
          <p:nvPr/>
        </p:nvSpPr>
        <p:spPr>
          <a:xfrm>
            <a:off x="2468880" y="4837176"/>
            <a:ext cx="640080" cy="292608"/>
          </a:xfrm>
          <a:prstGeom prst="roundRect">
            <a:avLst>
              <a:gd name="adj" fmla="val 25000"/>
            </a:avLst>
          </a:prstGeom>
          <a:solidFill>
            <a:schemeClr val="accent2"/>
          </a:solidFill>
          <a:ln w="9525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840</a:t>
            </a:r>
            <a:endParaRPr lang="en-US" sz="1200" dirty="0"/>
          </a:p>
        </p:txBody>
      </p:sp>
      <p:sp>
        <p:nvSpPr>
          <p:cNvPr id="13" name="Edge weight"/>
          <p:cNvSpPr/>
          <p:nvPr/>
        </p:nvSpPr>
        <p:spPr>
          <a:xfrm>
            <a:off x="2331720" y="2574036"/>
            <a:ext cx="640080" cy="292608"/>
          </a:xfrm>
          <a:prstGeom prst="roundRect">
            <a:avLst>
              <a:gd name="adj" fmla="val 25000"/>
            </a:avLst>
          </a:prstGeom>
          <a:solidFill>
            <a:schemeClr val="bg1"/>
          </a:solidFill>
          <a:ln w="9525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710</a:t>
            </a:r>
            <a:endParaRPr lang="en-US" sz="1200" dirty="0"/>
          </a:p>
        </p:txBody>
      </p:sp>
      <p:sp>
        <p:nvSpPr>
          <p:cNvPr id="14" name="Edge weight"/>
          <p:cNvSpPr/>
          <p:nvPr/>
        </p:nvSpPr>
        <p:spPr>
          <a:xfrm>
            <a:off x="2331720" y="3648456"/>
            <a:ext cx="640080" cy="292608"/>
          </a:xfrm>
          <a:prstGeom prst="roundRect">
            <a:avLst>
              <a:gd name="adj" fmla="val 25000"/>
            </a:avLst>
          </a:prstGeom>
          <a:solidFill>
            <a:schemeClr val="bg1"/>
          </a:solidFill>
          <a:ln w="9525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560</a:t>
            </a:r>
            <a:endParaRPr lang="en-US" sz="1200" dirty="0"/>
          </a:p>
        </p:txBody>
      </p:sp>
      <p:sp>
        <p:nvSpPr>
          <p:cNvPr id="15" name="Edge weight"/>
          <p:cNvSpPr/>
          <p:nvPr/>
        </p:nvSpPr>
        <p:spPr>
          <a:xfrm>
            <a:off x="3749040" y="4151376"/>
            <a:ext cx="640080" cy="292608"/>
          </a:xfrm>
          <a:prstGeom prst="roundRect">
            <a:avLst>
              <a:gd name="adj" fmla="val 25000"/>
            </a:avLst>
          </a:prstGeom>
          <a:solidFill>
            <a:schemeClr val="bg1"/>
          </a:solidFill>
          <a:ln w="9525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570</a:t>
            </a:r>
            <a:endParaRPr lang="en-US" sz="1200" dirty="0"/>
          </a:p>
        </p:txBody>
      </p:sp>
      <p:sp>
        <p:nvSpPr>
          <p:cNvPr id="16" name="Edge weight"/>
          <p:cNvSpPr/>
          <p:nvPr/>
        </p:nvSpPr>
        <p:spPr>
          <a:xfrm>
            <a:off x="4846320" y="3557016"/>
            <a:ext cx="640080" cy="292608"/>
          </a:xfrm>
          <a:prstGeom prst="roundRect">
            <a:avLst>
              <a:gd name="adj" fmla="val 25000"/>
            </a:avLst>
          </a:prstGeom>
          <a:solidFill>
            <a:schemeClr val="bg1"/>
          </a:solidFill>
          <a:ln w="9525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630</a:t>
            </a:r>
            <a:endParaRPr lang="en-US" sz="1200" dirty="0"/>
          </a:p>
        </p:txBody>
      </p:sp>
      <p:sp>
        <p:nvSpPr>
          <p:cNvPr id="17" name="Edge weight"/>
          <p:cNvSpPr/>
          <p:nvPr/>
        </p:nvSpPr>
        <p:spPr>
          <a:xfrm>
            <a:off x="4983480" y="4745736"/>
            <a:ext cx="640080" cy="292608"/>
          </a:xfrm>
          <a:prstGeom prst="roundRect">
            <a:avLst>
              <a:gd name="adj" fmla="val 25000"/>
            </a:avLst>
          </a:prstGeom>
          <a:solidFill>
            <a:schemeClr val="bg1"/>
          </a:solidFill>
          <a:ln w="9525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350</a:t>
            </a:r>
            <a:endParaRPr lang="en-US" sz="1200" dirty="0"/>
          </a:p>
        </p:txBody>
      </p:sp>
      <p:sp>
        <p:nvSpPr>
          <p:cNvPr id="18" name="City node"/>
          <p:cNvSpPr/>
          <p:nvPr/>
        </p:nvSpPr>
        <p:spPr>
          <a:xfrm>
            <a:off x="822960" y="1783080"/>
            <a:ext cx="1097280" cy="109728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Mumbai</a:t>
            </a:r>
            <a:endParaRPr lang="en-US" sz="1200" dirty="0"/>
          </a:p>
        </p:txBody>
      </p:sp>
      <p:sp>
        <p:nvSpPr>
          <p:cNvPr id="19" name="City node"/>
          <p:cNvSpPr/>
          <p:nvPr/>
        </p:nvSpPr>
        <p:spPr>
          <a:xfrm>
            <a:off x="822960" y="3931920"/>
            <a:ext cx="1097280" cy="109728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Pune</a:t>
            </a:r>
            <a:endParaRPr lang="en-US" sz="1200" dirty="0"/>
          </a:p>
        </p:txBody>
      </p:sp>
      <p:sp>
        <p:nvSpPr>
          <p:cNvPr id="20" name="City node"/>
          <p:cNvSpPr/>
          <p:nvPr/>
        </p:nvSpPr>
        <p:spPr>
          <a:xfrm>
            <a:off x="3383280" y="2560320"/>
            <a:ext cx="1097280" cy="109728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Hyderabad</a:t>
            </a:r>
            <a:endParaRPr lang="en-US" sz="1200" dirty="0"/>
          </a:p>
        </p:txBody>
      </p:sp>
      <p:sp>
        <p:nvSpPr>
          <p:cNvPr id="21" name="City node"/>
          <p:cNvSpPr/>
          <p:nvPr/>
        </p:nvSpPr>
        <p:spPr>
          <a:xfrm>
            <a:off x="3657600" y="4937760"/>
            <a:ext cx="1097280" cy="109728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Bengaluru</a:t>
            </a:r>
            <a:endParaRPr lang="en-US" sz="1200" dirty="0"/>
          </a:p>
        </p:txBody>
      </p:sp>
      <p:sp>
        <p:nvSpPr>
          <p:cNvPr id="22" name="City node"/>
          <p:cNvSpPr/>
          <p:nvPr/>
        </p:nvSpPr>
        <p:spPr>
          <a:xfrm>
            <a:off x="5852160" y="3749040"/>
            <a:ext cx="1097280" cy="109728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Chennai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557784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Edge weight = road distance in km (approx.)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Amber path = shortest Mumbai → Bengaluru: 990 km</a:t>
            </a:r>
            <a:endParaRPr lang="en-US" sz="1100" dirty="0"/>
          </a:p>
        </p:txBody>
      </p:sp>
      <p:sp>
        <p:nvSpPr>
          <p:cNvPr id="24" name="Reason card"/>
          <p:cNvSpPr/>
          <p:nvPr/>
        </p:nvSpPr>
        <p:spPr>
          <a:xfrm>
            <a:off x="7498080" y="1554480"/>
            <a:ext cx="4114800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25" name="Icon circle"/>
          <p:cNvSpPr/>
          <p:nvPr/>
        </p:nvSpPr>
        <p:spPr>
          <a:xfrm>
            <a:off x="7680960" y="1810512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6" name="Image 0" descr="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0182" y="1989734"/>
            <a:ext cx="281635" cy="281635"/>
          </a:xfrm>
          <a:prstGeom prst="rect">
            <a:avLst/>
          </a:prstGeom>
        </p:spPr>
      </p:pic>
      <p:sp>
        <p:nvSpPr>
          <p:cNvPr id="27" name="Text 24"/>
          <p:cNvSpPr txBox="1"/>
          <p:nvPr/>
        </p:nvSpPr>
        <p:spPr>
          <a:xfrm>
            <a:off x="8503920" y="16916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Cities = vertices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8503920" y="20116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Each location is a node</a:t>
            </a:r>
            <a:endParaRPr lang="en-US" sz="1400" dirty="0"/>
          </a:p>
        </p:txBody>
      </p:sp>
      <p:sp>
        <p:nvSpPr>
          <p:cNvPr id="29" name="Reason card"/>
          <p:cNvSpPr/>
          <p:nvPr/>
        </p:nvSpPr>
        <p:spPr>
          <a:xfrm>
            <a:off x="7498080" y="2880360"/>
            <a:ext cx="4114800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30" name="Icon circle"/>
          <p:cNvSpPr/>
          <p:nvPr/>
        </p:nvSpPr>
        <p:spPr>
          <a:xfrm>
            <a:off x="7680960" y="3136392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1" name="Image 1" descr="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0182" y="3315614"/>
            <a:ext cx="281635" cy="281635"/>
          </a:xfrm>
          <a:prstGeom prst="rect">
            <a:avLst/>
          </a:prstGeom>
        </p:spPr>
      </p:pic>
      <p:sp>
        <p:nvSpPr>
          <p:cNvPr id="32" name="Text 28"/>
          <p:cNvSpPr txBox="1"/>
          <p:nvPr/>
        </p:nvSpPr>
        <p:spPr>
          <a:xfrm>
            <a:off x="8503920" y="30175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Roads = weighted edges</a:t>
            </a:r>
            <a:endParaRPr lang="en-US" sz="1600" dirty="0"/>
          </a:p>
        </p:txBody>
      </p:sp>
      <p:sp>
        <p:nvSpPr>
          <p:cNvPr id="33" name="Text 29"/>
          <p:cNvSpPr txBox="1"/>
          <p:nvPr/>
        </p:nvSpPr>
        <p:spPr>
          <a:xfrm>
            <a:off x="8503920" y="33375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Weight = distance or travel time</a:t>
            </a:r>
            <a:endParaRPr lang="en-US" sz="1400" dirty="0"/>
          </a:p>
        </p:txBody>
      </p:sp>
      <p:sp>
        <p:nvSpPr>
          <p:cNvPr id="34" name="Reason card"/>
          <p:cNvSpPr/>
          <p:nvPr/>
        </p:nvSpPr>
        <p:spPr>
          <a:xfrm>
            <a:off x="7498080" y="4206240"/>
            <a:ext cx="4114800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35" name="Icon circle"/>
          <p:cNvSpPr/>
          <p:nvPr/>
        </p:nvSpPr>
        <p:spPr>
          <a:xfrm>
            <a:off x="7680960" y="4462272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6" name="Image 2" descr="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0182" y="4641494"/>
            <a:ext cx="281635" cy="281635"/>
          </a:xfrm>
          <a:prstGeom prst="rect">
            <a:avLst/>
          </a:prstGeom>
        </p:spPr>
      </p:pic>
      <p:sp>
        <p:nvSpPr>
          <p:cNvPr id="37" name="Text 32"/>
          <p:cNvSpPr txBox="1"/>
          <p:nvPr/>
        </p:nvSpPr>
        <p:spPr>
          <a:xfrm>
            <a:off x="8503920" y="43434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Non-linear, many-to-many</a:t>
            </a:r>
            <a:endParaRPr lang="en-US" sz="1600" dirty="0"/>
          </a:p>
        </p:txBody>
      </p:sp>
      <p:sp>
        <p:nvSpPr>
          <p:cNvPr id="38" name="Text 33"/>
          <p:cNvSpPr txBox="1"/>
          <p:nvPr/>
        </p:nvSpPr>
        <p:spPr>
          <a:xfrm>
            <a:off x="8503920" y="46634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Cycles and many links per city; lists and trees can't model this</a:t>
            </a:r>
            <a:endParaRPr lang="en-US" sz="1400" dirty="0"/>
          </a:p>
        </p:txBody>
      </p:sp>
      <p:sp>
        <p:nvSpPr>
          <p:cNvPr id="39" name="Representation banner"/>
          <p:cNvSpPr/>
          <p:nvPr/>
        </p:nvSpPr>
        <p:spPr>
          <a:xfrm>
            <a:off x="7498080" y="5532120"/>
            <a:ext cx="4114800" cy="640080"/>
          </a:xfrm>
          <a:prstGeom prst="roundRect">
            <a:avLst>
              <a:gd name="adj" fmla="val 17143"/>
            </a:avLst>
          </a:prstGeom>
          <a:solidFill>
            <a:schemeClr val="tx2"/>
          </a:solidFill>
          <a:ln/>
        </p:spPr>
      </p:sp>
      <p:sp>
        <p:nvSpPr>
          <p:cNvPr id="40" name="Text 35"/>
          <p:cNvSpPr txBox="1"/>
          <p:nvPr/>
        </p:nvSpPr>
        <p:spPr>
          <a:xfrm>
            <a:off x="7498080" y="553212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Adjacency list: space O(V + E)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uestion tag"/>
          <p:cNvSpPr/>
          <p:nvPr/>
        </p:nvSpPr>
        <p:spPr>
          <a:xfrm>
            <a:off x="548640" y="274320"/>
            <a:ext cx="1554480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QUESTION 2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Finding Shortest Routes: Dijkstra</a:t>
            </a:r>
            <a:endParaRPr lang="en-US" sz="3200" dirty="0"/>
          </a:p>
        </p:txBody>
      </p:sp>
      <p:sp>
        <p:nvSpPr>
          <p:cNvPr id="4" name="Step card"/>
          <p:cNvSpPr/>
          <p:nvPr/>
        </p:nvSpPr>
        <p:spPr>
          <a:xfrm>
            <a:off x="548640" y="1554480"/>
            <a:ext cx="603504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</p:sp>
      <p:sp>
        <p:nvSpPr>
          <p:cNvPr id="5" name="Step number"/>
          <p:cNvSpPr/>
          <p:nvPr/>
        </p:nvSpPr>
        <p:spPr>
          <a:xfrm>
            <a:off x="731520" y="1709928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16459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Initialize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196596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dist[source] = 0 and every other city = ∞</a:t>
            </a:r>
            <a:endParaRPr lang="en-US" sz="1400" dirty="0"/>
          </a:p>
        </p:txBody>
      </p:sp>
      <p:sp>
        <p:nvSpPr>
          <p:cNvPr id="8" name="Step card"/>
          <p:cNvSpPr/>
          <p:nvPr/>
        </p:nvSpPr>
        <p:spPr>
          <a:xfrm>
            <a:off x="548640" y="2560320"/>
            <a:ext cx="603504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</p:sp>
      <p:sp>
        <p:nvSpPr>
          <p:cNvPr id="9" name="Step number"/>
          <p:cNvSpPr/>
          <p:nvPr/>
        </p:nvSpPr>
        <p:spPr>
          <a:xfrm>
            <a:off x="731520" y="2715768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508760" y="26517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Pick the closest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508760" y="297180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Choose the unvisited city with the smallest distance (min-heap)</a:t>
            </a:r>
            <a:endParaRPr lang="en-US" sz="1400" dirty="0"/>
          </a:p>
        </p:txBody>
      </p:sp>
      <p:sp>
        <p:nvSpPr>
          <p:cNvPr id="12" name="Step card"/>
          <p:cNvSpPr/>
          <p:nvPr/>
        </p:nvSpPr>
        <p:spPr>
          <a:xfrm>
            <a:off x="548640" y="3566160"/>
            <a:ext cx="603504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</p:sp>
      <p:sp>
        <p:nvSpPr>
          <p:cNvPr id="13" name="Step number"/>
          <p:cNvSpPr/>
          <p:nvPr/>
        </p:nvSpPr>
        <p:spPr>
          <a:xfrm>
            <a:off x="731520" y="3721608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508760" y="36576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Relax edges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508760" y="397764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If dist[u] + w &lt; dist[v], update dist[v]</a:t>
            </a:r>
            <a:endParaRPr lang="en-US" sz="1400" dirty="0"/>
          </a:p>
        </p:txBody>
      </p:sp>
      <p:sp>
        <p:nvSpPr>
          <p:cNvPr id="16" name="Step card"/>
          <p:cNvSpPr/>
          <p:nvPr/>
        </p:nvSpPr>
        <p:spPr>
          <a:xfrm>
            <a:off x="548640" y="4572000"/>
            <a:ext cx="603504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</p:sp>
      <p:sp>
        <p:nvSpPr>
          <p:cNvPr id="17" name="Step number"/>
          <p:cNvSpPr/>
          <p:nvPr/>
        </p:nvSpPr>
        <p:spPr>
          <a:xfrm>
            <a:off x="731520" y="4727448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508760" y="46634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Repeat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508760" y="498348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Stop when the destination is finalized</a:t>
            </a:r>
            <a:endParaRPr lang="en-US" sz="1400" dirty="0"/>
          </a:p>
        </p:txBody>
      </p:sp>
      <p:sp>
        <p:nvSpPr>
          <p:cNvPr id="20" name="Complexity banner"/>
          <p:cNvSpPr/>
          <p:nvPr/>
        </p:nvSpPr>
        <p:spPr>
          <a:xfrm>
            <a:off x="548640" y="5623560"/>
            <a:ext cx="6035040" cy="594360"/>
          </a:xfrm>
          <a:prstGeom prst="roundRect">
            <a:avLst>
              <a:gd name="adj" fmla="val 18462"/>
            </a:avLst>
          </a:prstGeom>
          <a:solidFill>
            <a:schemeClr val="tx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8640" y="5623560"/>
            <a:ext cx="6035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Time </a:t>
            </a:r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O((V + E) log V)   </a:t>
            </a:r>
            <a:pPr algn="ctr"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Space </a:t>
            </a:r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O(V)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040880" y="15544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Result from Mumbai</a:t>
            </a:r>
            <a:endParaRPr lang="en-US" sz="1600" dirty="0"/>
          </a:p>
        </p:txBody>
      </p:sp>
      <p:graphicFrame>
        <p:nvGraphicFramePr>
          <p:cNvPr id="6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40880" y="1965960"/>
          <a:ext cx="45720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554480"/>
                <a:gridCol w="137160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City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Distance (km)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Via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Mumbai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Pune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150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Mumbai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Hyderabad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710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Mumbai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Bengaluru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990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Pune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Chennai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1340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Hyderabad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4" name="Alternatives card"/>
          <p:cNvSpPr/>
          <p:nvPr/>
        </p:nvSpPr>
        <p:spPr>
          <a:xfrm>
            <a:off x="7040880" y="4892040"/>
            <a:ext cx="457200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7269480" y="502920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BFS: unweighted maps, O(V + E)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A*: heuristic speed-up used in real GPS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uestion tag"/>
          <p:cNvSpPr/>
          <p:nvPr/>
        </p:nvSpPr>
        <p:spPr>
          <a:xfrm>
            <a:off x="548640" y="274320"/>
            <a:ext cx="1554480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QUESTION 3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Stack ADT for Back Navigation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087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Back stack (LIFO)</a:t>
            </a:r>
            <a:endParaRPr lang="en-US" sz="1600" dirty="0"/>
          </a:p>
        </p:txBody>
      </p:sp>
      <p:sp>
        <p:nvSpPr>
          <p:cNvPr id="5" name="Stack container"/>
          <p:cNvSpPr/>
          <p:nvPr/>
        </p:nvSpPr>
        <p:spPr>
          <a:xfrm>
            <a:off x="640080" y="1920240"/>
            <a:ext cx="3383280" cy="416052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6" name="Stack item"/>
          <p:cNvSpPr/>
          <p:nvPr/>
        </p:nvSpPr>
        <p:spPr>
          <a:xfrm>
            <a:off x="868680" y="2103120"/>
            <a:ext cx="2926080" cy="822960"/>
          </a:xfrm>
          <a:prstGeom prst="roundRect">
            <a:avLst>
              <a:gd name="adj" fmla="val 11111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Article page (current)</a:t>
            </a:r>
            <a:endParaRPr lang="en-US" sz="1500" dirty="0"/>
          </a:p>
        </p:txBody>
      </p:sp>
      <p:sp>
        <p:nvSpPr>
          <p:cNvPr id="7" name="Stack item"/>
          <p:cNvSpPr/>
          <p:nvPr/>
        </p:nvSpPr>
        <p:spPr>
          <a:xfrm>
            <a:off x="868680" y="3081528"/>
            <a:ext cx="2926080" cy="822960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Search results</a:t>
            </a:r>
            <a:endParaRPr lang="en-US" sz="1500" dirty="0"/>
          </a:p>
        </p:txBody>
      </p:sp>
      <p:sp>
        <p:nvSpPr>
          <p:cNvPr id="8" name="Stack item"/>
          <p:cNvSpPr/>
          <p:nvPr/>
        </p:nvSpPr>
        <p:spPr>
          <a:xfrm>
            <a:off x="868680" y="4059936"/>
            <a:ext cx="2926080" cy="822960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Search engine</a:t>
            </a:r>
            <a:endParaRPr lang="en-US" sz="1500" dirty="0"/>
          </a:p>
        </p:txBody>
      </p:sp>
      <p:sp>
        <p:nvSpPr>
          <p:cNvPr id="9" name="Stack item"/>
          <p:cNvSpPr/>
          <p:nvPr/>
        </p:nvSpPr>
        <p:spPr>
          <a:xfrm>
            <a:off x="868680" y="5038344"/>
            <a:ext cx="2926080" cy="822960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Home page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206240" y="23317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TOP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206240" y="26517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push / pop here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206240" y="53949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BOTTOM</a:t>
            </a:r>
            <a:endParaRPr lang="en-US" sz="1400" dirty="0"/>
          </a:p>
        </p:txBody>
      </p:sp>
      <p:graphicFrame>
        <p:nvGraphicFramePr>
          <p:cNvPr id="7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1554480"/>
          <a:ext cx="530352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377440"/>
                <a:gridCol w="1371600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Operation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Browser action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Time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push(page)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Visit a new page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O(1)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pop()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Press Back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O(1)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peek()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Show current page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O(1)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isEmpty()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Disable Back button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O(1)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4" name="LIFO card"/>
          <p:cNvSpPr/>
          <p:nvPr/>
        </p:nvSpPr>
        <p:spPr>
          <a:xfrm>
            <a:off x="6309360" y="4526280"/>
            <a:ext cx="530352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/>
        </p:spPr>
      </p:sp>
      <p:sp>
        <p:nvSpPr>
          <p:cNvPr id="15" name="Icon circle"/>
          <p:cNvSpPr/>
          <p:nvPr/>
        </p:nvSpPr>
        <p:spPr>
          <a:xfrm>
            <a:off x="6537960" y="50292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Image 0" descr="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17182" y="5208422"/>
            <a:ext cx="281635" cy="281635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360920" y="4663440"/>
            <a:ext cx="4069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Last In, First Out: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the most recently visited page is exactly the one Back needs.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uestion tag"/>
          <p:cNvSpPr/>
          <p:nvPr/>
        </p:nvSpPr>
        <p:spPr>
          <a:xfrm>
            <a:off x="548640" y="274320"/>
            <a:ext cx="1554480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QUESTION 3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How the Stack Improves Performance</a:t>
            </a:r>
            <a:endParaRPr lang="en-US" sz="3200" dirty="0"/>
          </a:p>
        </p:txBody>
      </p:sp>
      <p:sp>
        <p:nvSpPr>
          <p:cNvPr id="4" name="Stack panel"/>
          <p:cNvSpPr/>
          <p:nvPr/>
        </p:nvSpPr>
        <p:spPr>
          <a:xfrm>
            <a:off x="548640" y="1554480"/>
            <a:ext cx="2194560" cy="23774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6916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Back Stack</a:t>
            </a:r>
            <a:endParaRPr lang="en-US" sz="1600" dirty="0"/>
          </a:p>
        </p:txBody>
      </p:sp>
      <p:sp>
        <p:nvSpPr>
          <p:cNvPr id="6" name="Page item"/>
          <p:cNvSpPr/>
          <p:nvPr/>
        </p:nvSpPr>
        <p:spPr>
          <a:xfrm>
            <a:off x="731520" y="2194560"/>
            <a:ext cx="1828800" cy="640080"/>
          </a:xfrm>
          <a:prstGeom prst="roundRect">
            <a:avLst>
              <a:gd name="adj" fmla="val 1428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Search results</a:t>
            </a:r>
            <a:endParaRPr lang="en-US" sz="1400" dirty="0"/>
          </a:p>
        </p:txBody>
      </p:sp>
      <p:sp>
        <p:nvSpPr>
          <p:cNvPr id="7" name="Page item"/>
          <p:cNvSpPr/>
          <p:nvPr/>
        </p:nvSpPr>
        <p:spPr>
          <a:xfrm>
            <a:off x="731520" y="2971800"/>
            <a:ext cx="1828800" cy="640080"/>
          </a:xfrm>
          <a:prstGeom prst="roundRect">
            <a:avLst>
              <a:gd name="adj" fmla="val 1428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Home page</a:t>
            </a:r>
            <a:endParaRPr lang="en-US" sz="1400" dirty="0"/>
          </a:p>
        </p:txBody>
      </p:sp>
      <p:sp>
        <p:nvSpPr>
          <p:cNvPr id="8" name="Stack panel"/>
          <p:cNvSpPr/>
          <p:nvPr/>
        </p:nvSpPr>
        <p:spPr>
          <a:xfrm>
            <a:off x="2926080" y="1554480"/>
            <a:ext cx="1828800" cy="237744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108960" y="16916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Current Page</a:t>
            </a:r>
            <a:endParaRPr lang="en-US" sz="1600" dirty="0"/>
          </a:p>
        </p:txBody>
      </p:sp>
      <p:sp>
        <p:nvSpPr>
          <p:cNvPr id="10" name="Page item"/>
          <p:cNvSpPr/>
          <p:nvPr/>
        </p:nvSpPr>
        <p:spPr>
          <a:xfrm>
            <a:off x="3108960" y="2194560"/>
            <a:ext cx="1463040" cy="640080"/>
          </a:xfrm>
          <a:prstGeom prst="roundRect">
            <a:avLst>
              <a:gd name="adj" fmla="val 1428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Article page</a:t>
            </a:r>
            <a:endParaRPr lang="en-US" sz="1400" dirty="0"/>
          </a:p>
        </p:txBody>
      </p:sp>
      <p:sp>
        <p:nvSpPr>
          <p:cNvPr id="11" name="Stack panel"/>
          <p:cNvSpPr/>
          <p:nvPr/>
        </p:nvSpPr>
        <p:spPr>
          <a:xfrm>
            <a:off x="4937760" y="1554480"/>
            <a:ext cx="2194560" cy="23774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120640" y="16916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Forward Stack</a:t>
            </a:r>
            <a:endParaRPr lang="en-US" sz="1600" dirty="0"/>
          </a:p>
        </p:txBody>
      </p:sp>
      <p:sp>
        <p:nvSpPr>
          <p:cNvPr id="13" name="Page item"/>
          <p:cNvSpPr/>
          <p:nvPr/>
        </p:nvSpPr>
        <p:spPr>
          <a:xfrm>
            <a:off x="5120640" y="2194560"/>
            <a:ext cx="1828800" cy="640080"/>
          </a:xfrm>
          <a:prstGeom prst="roundRect">
            <a:avLst>
              <a:gd name="adj" fmla="val 1428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Video page</a:t>
            </a:r>
            <a:endParaRPr lang="en-US" sz="1400" dirty="0"/>
          </a:p>
        </p:txBody>
      </p:sp>
      <p:sp>
        <p:nvSpPr>
          <p:cNvPr id="14" name="Rules card"/>
          <p:cNvSpPr/>
          <p:nvPr/>
        </p:nvSpPr>
        <p:spPr>
          <a:xfrm>
            <a:off x="548640" y="4160520"/>
            <a:ext cx="658368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77240" y="4297680"/>
            <a:ext cx="6126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Visit: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push current onto Back, clear Forward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Back: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pop Back, push current onto Forward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Forward: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pop Forward, push current onto Back</a:t>
            </a:r>
            <a:endParaRPr lang="en-US" sz="1600" dirty="0"/>
          </a:p>
        </p:txBody>
      </p:sp>
      <p:sp>
        <p:nvSpPr>
          <p:cNvPr id="16" name="Stat card"/>
          <p:cNvSpPr/>
          <p:nvPr/>
        </p:nvSpPr>
        <p:spPr>
          <a:xfrm>
            <a:off x="7589520" y="1554480"/>
            <a:ext cx="4023360" cy="13716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7818120" y="1664208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O(1)</a:t>
            </a:r>
            <a:endParaRPr lang="en-US" sz="3400" dirty="0"/>
          </a:p>
        </p:txBody>
      </p:sp>
      <p:sp>
        <p:nvSpPr>
          <p:cNvPr id="18" name="Text 16"/>
          <p:cNvSpPr txBox="1"/>
          <p:nvPr/>
        </p:nvSpPr>
        <p:spPr>
          <a:xfrm>
            <a:off x="7818120" y="233172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Visit, Back and Forward each take constant time</a:t>
            </a:r>
            <a:endParaRPr lang="en-US" sz="1400" dirty="0"/>
          </a:p>
        </p:txBody>
      </p:sp>
      <p:sp>
        <p:nvSpPr>
          <p:cNvPr id="19" name="Stat card"/>
          <p:cNvSpPr/>
          <p:nvPr/>
        </p:nvSpPr>
        <p:spPr>
          <a:xfrm>
            <a:off x="7589520" y="3108960"/>
            <a:ext cx="4023360" cy="13716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7818120" y="3218688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only</a:t>
            </a:r>
            <a:endParaRPr lang="en-US" sz="3400" dirty="0"/>
          </a:p>
        </p:txBody>
      </p:sp>
      <p:sp>
        <p:nvSpPr>
          <p:cNvPr id="21" name="Text 19"/>
          <p:cNvSpPr txBox="1"/>
          <p:nvPr/>
        </p:nvSpPr>
        <p:spPr>
          <a:xfrm>
            <a:off x="7818120" y="388620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Only the top is touched: no searching or shifting</a:t>
            </a:r>
            <a:endParaRPr lang="en-US" sz="1400" dirty="0"/>
          </a:p>
        </p:txBody>
      </p:sp>
      <p:sp>
        <p:nvSpPr>
          <p:cNvPr id="22" name="Stat card"/>
          <p:cNvSpPr/>
          <p:nvPr/>
        </p:nvSpPr>
        <p:spPr>
          <a:xfrm>
            <a:off x="7589520" y="4663440"/>
            <a:ext cx="4023360" cy="13716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7818120" y="4773168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O(n)</a:t>
            </a:r>
            <a:endParaRPr lang="en-US" sz="3400" dirty="0"/>
          </a:p>
        </p:txBody>
      </p:sp>
      <p:sp>
        <p:nvSpPr>
          <p:cNvPr id="24" name="Text 22"/>
          <p:cNvSpPr txBox="1"/>
          <p:nvPr/>
        </p:nvSpPr>
        <p:spPr>
          <a:xfrm>
            <a:off x="7818120" y="544068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Memory grows only with pages visited; history can be capped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uestion tag"/>
          <p:cNvSpPr/>
          <p:nvPr/>
        </p:nvSpPr>
        <p:spPr>
          <a:xfrm>
            <a:off x="548640" y="274320"/>
            <a:ext cx="1554480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QUESTION 4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Hash Table for ISBN Search</a:t>
            </a:r>
            <a:endParaRPr lang="en-US" sz="3200" dirty="0"/>
          </a:p>
        </p:txBody>
      </p:sp>
      <p:sp>
        <p:nvSpPr>
          <p:cNvPr id="4" name="Flow box"/>
          <p:cNvSpPr/>
          <p:nvPr/>
        </p:nvSpPr>
        <p:spPr>
          <a:xfrm>
            <a:off x="548640" y="1600200"/>
            <a:ext cx="2286000" cy="1188720"/>
          </a:xfrm>
          <a:prstGeom prst="roundRect">
            <a:avLst>
              <a:gd name="adj" fmla="val 9231"/>
            </a:avLst>
          </a:prstGeom>
          <a:solidFill>
            <a:schemeClr val="tx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85800" y="17830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ISBN (key)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2402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13-digit unique number</a:t>
            </a:r>
            <a:endParaRPr lang="en-US" sz="1400" dirty="0"/>
          </a:p>
        </p:txBody>
      </p:sp>
      <p:sp>
        <p:nvSpPr>
          <p:cNvPr id="7" name="Flow arrow"/>
          <p:cNvSpPr/>
          <p:nvPr/>
        </p:nvSpPr>
        <p:spPr>
          <a:xfrm>
            <a:off x="2926080" y="2011680"/>
            <a:ext cx="457200" cy="36576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8" name="Flow box"/>
          <p:cNvSpPr/>
          <p:nvPr/>
        </p:nvSpPr>
        <p:spPr>
          <a:xfrm>
            <a:off x="3474720" y="1600200"/>
            <a:ext cx="2286000" cy="1188720"/>
          </a:xfrm>
          <a:prstGeom prst="roundRect">
            <a:avLst>
              <a:gd name="adj" fmla="val 9231"/>
            </a:avLst>
          </a:prstGeom>
          <a:solidFill>
            <a:schemeClr val="accent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611880" y="17830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Hash function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3611880" y="22402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h(k) = k mod m</a:t>
            </a:r>
            <a:endParaRPr lang="en-US" sz="1400" dirty="0"/>
          </a:p>
        </p:txBody>
      </p:sp>
      <p:sp>
        <p:nvSpPr>
          <p:cNvPr id="11" name="Flow arrow"/>
          <p:cNvSpPr/>
          <p:nvPr/>
        </p:nvSpPr>
        <p:spPr>
          <a:xfrm>
            <a:off x="5852160" y="2011680"/>
            <a:ext cx="457200" cy="36576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12" name="Flow box"/>
          <p:cNvSpPr/>
          <p:nvPr/>
        </p:nvSpPr>
        <p:spPr>
          <a:xfrm>
            <a:off x="6400800" y="1600200"/>
            <a:ext cx="2286000" cy="1188720"/>
          </a:xfrm>
          <a:prstGeom prst="roundRect">
            <a:avLst>
              <a:gd name="adj" fmla="val 9231"/>
            </a:avLst>
          </a:prstGeom>
          <a:solidFill>
            <a:schemeClr val="tx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537960" y="17830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Bucket index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537960" y="22402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0 … m − 1</a:t>
            </a:r>
            <a:endParaRPr lang="en-US" sz="1400" dirty="0"/>
          </a:p>
        </p:txBody>
      </p:sp>
      <p:sp>
        <p:nvSpPr>
          <p:cNvPr id="15" name="Flow arrow"/>
          <p:cNvSpPr/>
          <p:nvPr/>
        </p:nvSpPr>
        <p:spPr>
          <a:xfrm>
            <a:off x="8778240" y="2011680"/>
            <a:ext cx="457200" cy="36576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16" name="Flow box"/>
          <p:cNvSpPr/>
          <p:nvPr/>
        </p:nvSpPr>
        <p:spPr>
          <a:xfrm>
            <a:off x="9326880" y="1600200"/>
            <a:ext cx="2286000" cy="1188720"/>
          </a:xfrm>
          <a:prstGeom prst="roundRect">
            <a:avLst>
              <a:gd name="adj" fmla="val 9231"/>
            </a:avLst>
          </a:prstGeom>
          <a:solidFill>
            <a:schemeClr val="tx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9464040" y="17830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Book record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9464040" y="22402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title, author, copies</a:t>
            </a:r>
            <a:endParaRPr lang="en-US" sz="1400" dirty="0"/>
          </a:p>
        </p:txBody>
      </p:sp>
      <p:sp>
        <p:nvSpPr>
          <p:cNvPr id="19" name="Design card"/>
          <p:cNvSpPr/>
          <p:nvPr/>
        </p:nvSpPr>
        <p:spPr>
          <a:xfrm>
            <a:off x="548640" y="3108960"/>
            <a:ext cx="3566160" cy="301752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77240" y="32918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Table design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777240" y="3794760"/>
            <a:ext cx="3108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 ≈ 66,000 buckets (prime)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Load factor α = 50,000 / 66,000 ≈ 0.75</a:t>
            </a:r>
            <a:endParaRPr lang="en-US" sz="1600" dirty="0"/>
          </a:p>
        </p:txBody>
      </p:sp>
      <p:sp>
        <p:nvSpPr>
          <p:cNvPr id="22" name="Design card"/>
          <p:cNvSpPr/>
          <p:nvPr/>
        </p:nvSpPr>
        <p:spPr>
          <a:xfrm>
            <a:off x="4297680" y="3108960"/>
            <a:ext cx="3566160" cy="301752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526280" y="32918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Handling collisions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4526280" y="3794760"/>
            <a:ext cx="3108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Chaining: each bucket holds a short list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Expected chain length ≈ α, under 1</a:t>
            </a:r>
            <a:endParaRPr lang="en-US" sz="1600" dirty="0"/>
          </a:p>
        </p:txBody>
      </p:sp>
      <p:sp>
        <p:nvSpPr>
          <p:cNvPr id="25" name="Design card"/>
          <p:cNvSpPr/>
          <p:nvPr/>
        </p:nvSpPr>
        <p:spPr>
          <a:xfrm>
            <a:off x="8046720" y="3108960"/>
            <a:ext cx="3566160" cy="301752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275320" y="32918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Why it fits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8275320" y="3794760"/>
            <a:ext cx="3108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Unique key, exact-match lookups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No sorting needed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Insert and delete in O(1) average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uestion tag"/>
          <p:cNvSpPr/>
          <p:nvPr/>
        </p:nvSpPr>
        <p:spPr>
          <a:xfrm>
            <a:off x="548640" y="274320"/>
            <a:ext cx="1554480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QUESTION 4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Time Complexity Comparison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08760"/>
          <a:ext cx="539496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0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1600200"/>
          <a:ext cx="539496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234440"/>
                <a:gridCol w="1325880"/>
                <a:gridCol w="1005840"/>
              </a:tblGrid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Structure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Search avg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Search worst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Insert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Linear search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O(n)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O(n)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O(1)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Binary search*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O(log n)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O(log n)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O(n)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Balanced BST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O(log n)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O(log n)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O(log n)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Hash table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O(1)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O(n)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O(1)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6217920" y="466344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* requires the array to be kept sorted</a:t>
            </a:r>
            <a:endParaRPr lang="en-US" sz="1200" dirty="0"/>
          </a:p>
        </p:txBody>
      </p:sp>
      <p:sp>
        <p:nvSpPr>
          <p:cNvPr id="7" name="Takeaway banner"/>
          <p:cNvSpPr/>
          <p:nvPr/>
        </p:nvSpPr>
        <p:spPr>
          <a:xfrm>
            <a:off x="548640" y="5440680"/>
            <a:ext cx="11064240" cy="731520"/>
          </a:xfrm>
          <a:prstGeom prst="roundRect">
            <a:avLst>
              <a:gd name="adj" fmla="val 15000"/>
            </a:avLst>
          </a:prstGeom>
          <a:solidFill>
            <a:schemeClr val="tx2"/>
          </a:solidFill>
          <a:ln/>
        </p:spPr>
      </p:sp>
      <p:sp>
        <p:nvSpPr>
          <p:cNvPr id="8" name="Text 4"/>
          <p:cNvSpPr txBox="1"/>
          <p:nvPr/>
        </p:nvSpPr>
        <p:spPr>
          <a:xfrm>
            <a:off x="777240" y="544068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Verdict: </a:t>
            </a:r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a hash table finds a book in about 1 comparison, while linear search may need 50,000.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31520" y="1828800"/>
            <a:ext cx="6035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b="1" dirty="0">
                <a:solidFill>
                  <a:schemeClr val="bg1"/>
                </a:solidFill>
              </a:rPr>
              <a:t>Thank You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20040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accent6"/>
                </a:solidFill>
              </a:rPr>
              <a:t>Questions and discussion are welcome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29768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Prabavathy 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80060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Register Number: 1972260100</a:t>
            </a:r>
            <a:endParaRPr lang="en-US" sz="1800" dirty="0"/>
          </a:p>
        </p:txBody>
      </p:sp>
      <p:sp>
        <p:nvSpPr>
          <p:cNvPr id="6" name="Recap card"/>
          <p:cNvSpPr/>
          <p:nvPr/>
        </p:nvSpPr>
        <p:spPr>
          <a:xfrm>
            <a:off x="7223760" y="1371600"/>
            <a:ext cx="4389120" cy="1005840"/>
          </a:xfrm>
          <a:prstGeom prst="roundRect">
            <a:avLst>
              <a:gd name="adj" fmla="val 10909"/>
            </a:avLst>
          </a:prstGeom>
          <a:solidFill>
            <a:schemeClr val="accent3"/>
          </a:solidFill>
          <a:ln/>
        </p:spPr>
      </p:sp>
      <p:sp>
        <p:nvSpPr>
          <p:cNvPr id="7" name="Icon circle"/>
          <p:cNvSpPr/>
          <p:nvPr/>
        </p:nvSpPr>
        <p:spPr>
          <a:xfrm>
            <a:off x="7452360" y="155448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8" name="Image 0" descr="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1582" y="1733702"/>
            <a:ext cx="281635" cy="281635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321040" y="15544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Array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8321040" y="193852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Student marks</a:t>
            </a:r>
            <a:endParaRPr lang="en-US" sz="1400" dirty="0"/>
          </a:p>
        </p:txBody>
      </p:sp>
      <p:sp>
        <p:nvSpPr>
          <p:cNvPr id="11" name="Recap card"/>
          <p:cNvSpPr/>
          <p:nvPr/>
        </p:nvSpPr>
        <p:spPr>
          <a:xfrm>
            <a:off x="7223760" y="2560320"/>
            <a:ext cx="4389120" cy="1005840"/>
          </a:xfrm>
          <a:prstGeom prst="roundRect">
            <a:avLst>
              <a:gd name="adj" fmla="val 10909"/>
            </a:avLst>
          </a:prstGeom>
          <a:solidFill>
            <a:schemeClr val="accent3"/>
          </a:solidFill>
          <a:ln/>
        </p:spPr>
      </p:sp>
      <p:sp>
        <p:nvSpPr>
          <p:cNvPr id="12" name="Icon circle"/>
          <p:cNvSpPr/>
          <p:nvPr/>
        </p:nvSpPr>
        <p:spPr>
          <a:xfrm>
            <a:off x="7452360" y="274320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3" name="Image 1" descr="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1582" y="2922422"/>
            <a:ext cx="281635" cy="281635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8321040" y="27432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Graph</a:t>
            </a:r>
            <a:endParaRPr lang="en-US" sz="2000" dirty="0"/>
          </a:p>
        </p:txBody>
      </p:sp>
      <p:sp>
        <p:nvSpPr>
          <p:cNvPr id="15" name="Text 11"/>
          <p:cNvSpPr txBox="1"/>
          <p:nvPr/>
        </p:nvSpPr>
        <p:spPr>
          <a:xfrm>
            <a:off x="8321040" y="312724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City navigation</a:t>
            </a:r>
            <a:endParaRPr lang="en-US" sz="1400" dirty="0"/>
          </a:p>
        </p:txBody>
      </p:sp>
      <p:sp>
        <p:nvSpPr>
          <p:cNvPr id="16" name="Recap card"/>
          <p:cNvSpPr/>
          <p:nvPr/>
        </p:nvSpPr>
        <p:spPr>
          <a:xfrm>
            <a:off x="7223760" y="3749040"/>
            <a:ext cx="4389120" cy="1005840"/>
          </a:xfrm>
          <a:prstGeom prst="roundRect">
            <a:avLst>
              <a:gd name="adj" fmla="val 10909"/>
            </a:avLst>
          </a:prstGeom>
          <a:solidFill>
            <a:schemeClr val="accent3"/>
          </a:solidFill>
          <a:ln/>
        </p:spPr>
      </p:sp>
      <p:sp>
        <p:nvSpPr>
          <p:cNvPr id="17" name="Icon circle"/>
          <p:cNvSpPr/>
          <p:nvPr/>
        </p:nvSpPr>
        <p:spPr>
          <a:xfrm>
            <a:off x="7452360" y="393192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8" name="Image 2" descr="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1582" y="4111142"/>
            <a:ext cx="281635" cy="281635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321040" y="39319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Stack</a:t>
            </a:r>
            <a:endParaRPr lang="en-US" sz="2000" dirty="0"/>
          </a:p>
        </p:txBody>
      </p:sp>
      <p:sp>
        <p:nvSpPr>
          <p:cNvPr id="20" name="Text 15"/>
          <p:cNvSpPr txBox="1"/>
          <p:nvPr/>
        </p:nvSpPr>
        <p:spPr>
          <a:xfrm>
            <a:off x="8321040" y="431596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Browser history</a:t>
            </a:r>
            <a:endParaRPr lang="en-US" sz="1400" dirty="0"/>
          </a:p>
        </p:txBody>
      </p:sp>
      <p:sp>
        <p:nvSpPr>
          <p:cNvPr id="21" name="Recap card"/>
          <p:cNvSpPr/>
          <p:nvPr/>
        </p:nvSpPr>
        <p:spPr>
          <a:xfrm>
            <a:off x="7223760" y="4937760"/>
            <a:ext cx="4389120" cy="1005840"/>
          </a:xfrm>
          <a:prstGeom prst="roundRect">
            <a:avLst>
              <a:gd name="adj" fmla="val 10909"/>
            </a:avLst>
          </a:prstGeom>
          <a:solidFill>
            <a:schemeClr val="accent3"/>
          </a:solidFill>
          <a:ln/>
        </p:spPr>
      </p:sp>
      <p:sp>
        <p:nvSpPr>
          <p:cNvPr id="22" name="Icon circle"/>
          <p:cNvSpPr/>
          <p:nvPr/>
        </p:nvSpPr>
        <p:spPr>
          <a:xfrm>
            <a:off x="7452360" y="512064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3" name="Image 3" descr="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1582" y="5299862"/>
            <a:ext cx="281635" cy="281635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8321040" y="51206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Hash Table</a:t>
            </a:r>
            <a:endParaRPr lang="en-US" sz="2000" dirty="0"/>
          </a:p>
        </p:txBody>
      </p:sp>
      <p:sp>
        <p:nvSpPr>
          <p:cNvPr id="25" name="Text 19"/>
          <p:cNvSpPr txBox="1"/>
          <p:nvPr/>
        </p:nvSpPr>
        <p:spPr>
          <a:xfrm>
            <a:off x="8321040" y="550468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ISBN search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S Teal">
  <a:themeElements>
    <a:clrScheme name="DS Teal">
      <a:dk1>
        <a:srgbClr val="17262B"/>
      </a:dk1>
      <a:lt1>
        <a:srgbClr val="FFFFFF"/>
      </a:lt1>
      <a:dk2>
        <a:srgbClr val="0B3C49"/>
      </a:dk2>
      <a:lt2>
        <a:srgbClr val="E8F1F2"/>
      </a:lt2>
      <a:accent1>
        <a:srgbClr val="0B7A75"/>
      </a:accent1>
      <a:accent2>
        <a:srgbClr val="F2A541"/>
      </a:accent2>
      <a:accent3>
        <a:srgbClr val="14566A"/>
      </a:accent3>
      <a:accent4>
        <a:srgbClr val="E76F51"/>
      </a:accent4>
      <a:accent5>
        <a:srgbClr val="5C6B73"/>
      </a:accent5>
      <a:accent6>
        <a:srgbClr val="7FC8C2"/>
      </a:accent6>
      <a:hlink>
        <a:srgbClr val="0B7A75"/>
      </a:hlink>
      <a:folHlink>
        <a:srgbClr val="5C6B73"/>
      </a:folHlink>
    </a:clrScheme>
    <a:fontScheme name="DS Teal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Structures – Technical Presentation</dc:title>
  <dc:subject>PptxGenJS Presentation</dc:subject>
  <dc:creator>Prabavathy S</dc:creator>
  <cp:lastModifiedBy>Prabavathy S</cp:lastModifiedBy>
  <cp:revision>1</cp:revision>
  <dcterms:created xsi:type="dcterms:W3CDTF">2026-10-12T02:37:36Z</dcterms:created>
  <dcterms:modified xsi:type="dcterms:W3CDTF">2026-10-12T02:37:36Z</dcterms:modified>
</cp:coreProperties>
</file>